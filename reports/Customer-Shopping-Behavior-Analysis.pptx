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rimo" panose="020B0604020202020204" charset="0"/>
      <p:regular r:id="rId13"/>
    </p:embeddedFont>
    <p:embeddedFont>
      <p:font typeface="Outfit Extra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FF6"/>
    <a:srgbClr val="F8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266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Uncovering insights from transactional data to guide strategic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681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30598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830598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 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578310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Analyzed 3,900 purchases across categories.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830598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3830598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4578310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Spending patterns, segments, product preferences, subscriptions.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830598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3830598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Strategic Guidance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4578310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Informing business decisions with data-driven insights.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087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Dataset Summary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12889"/>
            <a:ext cx="3501509" cy="1412915"/>
          </a:xfrm>
          <a:prstGeom prst="roundRect">
            <a:avLst>
              <a:gd name="adj" fmla="val 6743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3473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Rows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928467"/>
            <a:ext cx="30326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3,900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4752618"/>
            <a:ext cx="3501509" cy="1412915"/>
          </a:xfrm>
          <a:prstGeom prst="roundRect">
            <a:avLst>
              <a:gd name="adj" fmla="val 6743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4624" y="49870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14624" y="5568196"/>
            <a:ext cx="30326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18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3061811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Key Features include customer demographics, purchase details, and shopping behavior. Missing data in Review Rating column (37 values).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7741"/>
            <a:ext cx="93119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Exploratory Data Analysis (Python)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401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495193"/>
            <a:ext cx="6407944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669500"/>
            <a:ext cx="36549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 Loading &amp; Exploration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159919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Pandas for import, df.info() and .describe() for summary.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1401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495193"/>
            <a:ext cx="6408063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2669500"/>
            <a:ext cx="29804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159919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Imputed Review Rating with median by category.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39196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274701"/>
            <a:ext cx="6407944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4449008"/>
            <a:ext cx="32205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Column Standardization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4939427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Renamed columns to snake_case for readability.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39196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274701"/>
            <a:ext cx="6408063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4449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4939427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Created age_group and purchase_frequency_days.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56991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3790" y="6054209"/>
            <a:ext cx="6407944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21" name="Text 19"/>
          <p:cNvSpPr/>
          <p:nvPr/>
        </p:nvSpPr>
        <p:spPr>
          <a:xfrm>
            <a:off x="793790" y="62285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 Consistency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3790" y="6718935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Dropped redundant promo_code_used column.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428548" y="56991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428548" y="6054209"/>
            <a:ext cx="6408063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25" name="Text 23"/>
          <p:cNvSpPr/>
          <p:nvPr/>
        </p:nvSpPr>
        <p:spPr>
          <a:xfrm>
            <a:off x="7428548" y="6228517"/>
            <a:ext cx="28584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28548" y="6718935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Loaded cleaned data to PostgreSQL for SQL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189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7549" y="3096101"/>
            <a:ext cx="4437936" cy="554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 Analysis (SQL)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577549" y="3928467"/>
            <a:ext cx="2218968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Revenue by Gender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77549" y="4344710"/>
            <a:ext cx="5907881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Female: $75,191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77549" y="4722852"/>
            <a:ext cx="5907881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Male: $157,890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77549" y="5114806"/>
            <a:ext cx="2533650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Top 5 Products by Rating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77549" y="5531048"/>
            <a:ext cx="5907881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Gloves: 3.86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77549" y="5909191"/>
            <a:ext cx="5907881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Sandals: 3.84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77549" y="6287333"/>
            <a:ext cx="5907881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Boots: 3.82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77549" y="6665476"/>
            <a:ext cx="5907881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Hat: 3.80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77549" y="7043618"/>
            <a:ext cx="5907881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Skirt: 3.78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925962" y="3928467"/>
            <a:ext cx="2748796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Shipping Type Comparison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925962" y="4344710"/>
            <a:ext cx="5907881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Standard: $58.46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925962" y="4722852"/>
            <a:ext cx="5907881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Express: $60.48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925962" y="5114806"/>
            <a:ext cx="3328988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Subscribers vs. Non-Subscribers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925962" y="5531048"/>
            <a:ext cx="5907881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Subscribers: 1,053 customers, Avg Spend $59.49, Total Revenue $62,645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925962" y="5909191"/>
            <a:ext cx="5907881" cy="50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Non-Subscribers: 2,847 customers, Avg Spend $59.87, Total Revenue $170,436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0986"/>
            <a:ext cx="87014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SQL Insights: Customer Behavior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23555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AFAFA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693075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238339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E4CE6"/>
          </a:solidFill>
          <a:ln/>
        </p:spPr>
      </p:sp>
      <p:sp>
        <p:nvSpPr>
          <p:cNvPr id="6" name="Text 4"/>
          <p:cNvSpPr/>
          <p:nvPr/>
        </p:nvSpPr>
        <p:spPr>
          <a:xfrm>
            <a:off x="3861614" y="255353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290530"/>
            <a:ext cx="40038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High-Spending Discount Users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780949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839 customers spent above average with discounts.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723555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AFAFA">
              <a:alpha val="9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28548" y="2693075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11" name="Shape 9"/>
          <p:cNvSpPr/>
          <p:nvPr/>
        </p:nvSpPr>
        <p:spPr>
          <a:xfrm>
            <a:off x="10292298" y="238339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E4CE6"/>
          </a:solidFill>
          <a:ln/>
        </p:spPr>
      </p:sp>
      <p:sp>
        <p:nvSpPr>
          <p:cNvPr id="12" name="Text 10"/>
          <p:cNvSpPr/>
          <p:nvPr/>
        </p:nvSpPr>
        <p:spPr>
          <a:xfrm>
            <a:off x="10496371" y="255353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685842" y="3290530"/>
            <a:ext cx="39991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Discount-Dependent Products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3780949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Hat (50%), Sneakers (49.66%), Coat (49.07%), Sweater (48.17%), Pants (47.37%).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331023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AFAFA">
              <a:alpha val="9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93790" y="5300543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540" y="499086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E4CE6"/>
          </a:solidFill>
          <a:ln/>
        </p:spPr>
      </p:sp>
      <p:sp>
        <p:nvSpPr>
          <p:cNvPr id="18" name="Text 16"/>
          <p:cNvSpPr/>
          <p:nvPr/>
        </p:nvSpPr>
        <p:spPr>
          <a:xfrm>
            <a:off x="3861614" y="516100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51084" y="5897999"/>
            <a:ext cx="32219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Customer Segmentation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084" y="638841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Loyal (3116), Returning (701), New (83).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5331023"/>
            <a:ext cx="6408063" cy="1677591"/>
          </a:xfrm>
          <a:prstGeom prst="roundRect">
            <a:avLst>
              <a:gd name="adj" fmla="val 8721"/>
            </a:avLst>
          </a:prstGeom>
          <a:solidFill>
            <a:srgbClr val="FAFAFA">
              <a:alpha val="9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428548" y="5300543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92298" y="499086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E4CE6"/>
          </a:solidFill>
          <a:ln/>
        </p:spPr>
      </p:sp>
      <p:sp>
        <p:nvSpPr>
          <p:cNvPr id="24" name="Text 22"/>
          <p:cNvSpPr/>
          <p:nvPr/>
        </p:nvSpPr>
        <p:spPr>
          <a:xfrm>
            <a:off x="10496371" y="516100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685842" y="5897999"/>
            <a:ext cx="39964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Repeat Buyers &amp; Subscriptions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85842" y="6388417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958 repeat buyers are subscribers, 2518 are not.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5788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SQL Insights: Product &amp; Revenue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142417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Top 3 Products per Category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07789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Accessories: Jewelry, Sunglasses, Belt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00776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Clothing: Blouse, Pants, Shirt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574744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Footwear: Sandals, Shoes, Sneakers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50462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Outerwear: Jacket, Coat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3142417"/>
            <a:ext cx="29566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Revenue by Age Group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856321" y="372356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Young Adult: $62,143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429053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Middle-aged: $59,197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485751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Adult: $55,978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56321" y="542448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Senior: $55,763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88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Power BI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Interactive visualization of customer behavior insights.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0864" y="522684"/>
            <a:ext cx="4816316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Dashboard Key Metrics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200864" y="1441966"/>
            <a:ext cx="3960852" cy="584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3.9K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073593" y="2219206"/>
            <a:ext cx="2215277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Customers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34714" y="1441966"/>
            <a:ext cx="3960852" cy="584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$59.76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207443" y="2219206"/>
            <a:ext cx="2215277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Avg. Purchase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468564" y="1441966"/>
            <a:ext cx="3960852" cy="584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3.75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10341293" y="2219206"/>
            <a:ext cx="2215277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Avg. Review</a:t>
            </a:r>
            <a:endParaRPr lang="en-US" sz="17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864" y="2807613"/>
            <a:ext cx="7797284" cy="415861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96038" y="6996708"/>
            <a:ext cx="177165" cy="177165"/>
          </a:xfrm>
          <a:prstGeom prst="roundRect">
            <a:avLst>
              <a:gd name="adj" fmla="val 10323"/>
            </a:avLst>
          </a:prstGeom>
          <a:solidFill>
            <a:srgbClr val="100943"/>
          </a:solidFill>
          <a:ln/>
        </p:spPr>
      </p:sp>
      <p:sp>
        <p:nvSpPr>
          <p:cNvPr id="11" name="Text 8"/>
          <p:cNvSpPr/>
          <p:nvPr/>
        </p:nvSpPr>
        <p:spPr>
          <a:xfrm>
            <a:off x="4734163" y="6996708"/>
            <a:ext cx="289084" cy="177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Yes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175647" y="6996708"/>
            <a:ext cx="177165" cy="177165"/>
          </a:xfrm>
          <a:prstGeom prst="roundRect">
            <a:avLst>
              <a:gd name="adj" fmla="val 10323"/>
            </a:avLst>
          </a:prstGeom>
          <a:solidFill>
            <a:srgbClr val="3E28E1"/>
          </a:solidFill>
          <a:ln/>
        </p:spPr>
      </p:sp>
      <p:sp>
        <p:nvSpPr>
          <p:cNvPr id="13" name="Text 10"/>
          <p:cNvSpPr/>
          <p:nvPr/>
        </p:nvSpPr>
        <p:spPr>
          <a:xfrm>
            <a:off x="5413772" y="6996708"/>
            <a:ext cx="226576" cy="177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200864" y="7329726"/>
            <a:ext cx="7797284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27% of customers are subscribers.</a:t>
            </a:r>
            <a:endParaRPr lang="en-US" sz="13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7965" y="3871079"/>
            <a:ext cx="3998952" cy="22393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437965" y="6266140"/>
            <a:ext cx="3998952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Clothing drives the most revenue.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620" y="660440"/>
            <a:ext cx="7086481" cy="687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Business Recommendations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011" y="1780639"/>
            <a:ext cx="329803" cy="329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4114" y="1773912"/>
            <a:ext cx="2748796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Boost Subscriptions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1484114" y="2245400"/>
            <a:ext cx="12376666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Promote exclusive benefits for subscribers.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011" y="3024961"/>
            <a:ext cx="329803" cy="3298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84114" y="3018234"/>
            <a:ext cx="3586639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Customer Loyalty Programs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1484114" y="3489722"/>
            <a:ext cx="12376666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Reward repeat buyers to foster loyalty.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011" y="4269284"/>
            <a:ext cx="329803" cy="32980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84114" y="4262557"/>
            <a:ext cx="2923342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Review Discount Policy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1484114" y="4734044"/>
            <a:ext cx="12376666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Balance sales with margin control.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011" y="5513606"/>
            <a:ext cx="329803" cy="32980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84114" y="5506879"/>
            <a:ext cx="2748796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Product Positioning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1484114" y="5978366"/>
            <a:ext cx="12376666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Highlight top-rated and best-selling products.</a:t>
            </a:r>
            <a:endParaRPr lang="en-US" sz="1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011" y="6757928"/>
            <a:ext cx="329803" cy="32980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84114" y="6751201"/>
            <a:ext cx="2748796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Targeted Marketing</a:t>
            </a:r>
            <a:endParaRPr lang="en-US" sz="2150" dirty="0"/>
          </a:p>
        </p:txBody>
      </p:sp>
      <p:sp>
        <p:nvSpPr>
          <p:cNvPr id="17" name="Text 10"/>
          <p:cNvSpPr/>
          <p:nvPr/>
        </p:nvSpPr>
        <p:spPr>
          <a:xfrm>
            <a:off x="1484114" y="7222688"/>
            <a:ext cx="12376666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Focus on high-revenue age groups and express-shipping users.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466</Words>
  <Application>Microsoft Office PowerPoint</Application>
  <PresentationFormat>Custom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Outfit Light</vt:lpstr>
      <vt:lpstr>Arimo</vt:lpstr>
      <vt:lpstr>Outfit Extra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Ggg Gggg</cp:lastModifiedBy>
  <cp:revision>3</cp:revision>
  <dcterms:created xsi:type="dcterms:W3CDTF">2026-01-30T10:36:59Z</dcterms:created>
  <dcterms:modified xsi:type="dcterms:W3CDTF">2026-07-21T13:14:03Z</dcterms:modified>
</cp:coreProperties>
</file>